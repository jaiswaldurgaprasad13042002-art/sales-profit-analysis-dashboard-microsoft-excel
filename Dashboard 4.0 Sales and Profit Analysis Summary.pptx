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4.bin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301" r:id="rId2"/>
    <p:sldId id="318" r:id="rId3"/>
    <p:sldId id="359" r:id="rId4"/>
    <p:sldId id="412" r:id="rId5"/>
    <p:sldId id="599" r:id="rId6"/>
    <p:sldId id="640" r:id="rId7"/>
  </p:sldIdLst>
  <p:sldSz cx="18288000" cy="10287000"/>
  <p:notesSz cx="18288000" cy="10287000"/>
  <p:embeddedFontLst>
    <p:embeddedFont>
      <p:font typeface="Hanken Grotesk" panose="020B0604020202020204" charset="0"/>
      <p:regular r:id="rId8"/>
      <p:bold r:id="rId9"/>
    </p:embeddedFont>
    <p:embeddedFont>
      <p:font typeface="Hanken Grotesk SemiBold" panose="020B0604020202020204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6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ga Prasad Jaiswal" userId="701d1fdf80a5e9e6" providerId="LiveId" clId="{D0965353-79FC-46D2-A7D8-9A76020D0BDF}"/>
    <pc:docChg chg="custSel modSld">
      <pc:chgData name="Durga Prasad Jaiswal" userId="701d1fdf80a5e9e6" providerId="LiveId" clId="{D0965353-79FC-46D2-A7D8-9A76020D0BDF}" dt="2025-10-11T02:41:17.045" v="46" actId="20577"/>
      <pc:docMkLst>
        <pc:docMk/>
      </pc:docMkLst>
      <pc:sldChg chg="delSp modSp mod">
        <pc:chgData name="Durga Prasad Jaiswal" userId="701d1fdf80a5e9e6" providerId="LiveId" clId="{D0965353-79FC-46D2-A7D8-9A76020D0BDF}" dt="2025-10-11T02:41:17.045" v="46" actId="20577"/>
        <pc:sldMkLst>
          <pc:docMk/>
          <pc:sldMk cId="3648047976" sldId="301"/>
        </pc:sldMkLst>
        <pc:spChg chg="mod">
          <ac:chgData name="Durga Prasad Jaiswal" userId="701d1fdf80a5e9e6" providerId="LiveId" clId="{D0965353-79FC-46D2-A7D8-9A76020D0BDF}" dt="2025-10-11T02:41:17.045" v="46" actId="20577"/>
          <ac:spMkLst>
            <pc:docMk/>
            <pc:sldMk cId="3648047976" sldId="301"/>
            <ac:spMk id="311" creationId="{111B4A49-B930-4A89-A1CD-6CA2B3D95AED}"/>
          </ac:spMkLst>
        </pc:spChg>
        <pc:picChg chg="del">
          <ac:chgData name="Durga Prasad Jaiswal" userId="701d1fdf80a5e9e6" providerId="LiveId" clId="{D0965353-79FC-46D2-A7D8-9A76020D0BDF}" dt="2025-10-11T02:40:42.272" v="0" actId="478"/>
          <ac:picMkLst>
            <pc:docMk/>
            <pc:sldMk cId="3648047976" sldId="301"/>
            <ac:picMk id="309" creationId="{A8642F66-C0BB-4949-9A9C-024B120A5D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bin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bin"/><Relationship Id="rId3" Type="http://schemas.openxmlformats.org/officeDocument/2006/relationships/image" Target="../media/image2.bin"/><Relationship Id="rId7" Type="http://schemas.openxmlformats.org/officeDocument/2006/relationships/image" Target="../media/image9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bin"/><Relationship Id="rId5" Type="http://schemas.openxmlformats.org/officeDocument/2006/relationships/image" Target="../media/image7.bin"/><Relationship Id="rId10" Type="http://schemas.openxmlformats.org/officeDocument/2006/relationships/image" Target="../media/image12.bin"/><Relationship Id="rId4" Type="http://schemas.openxmlformats.org/officeDocument/2006/relationships/image" Target="../media/image6.bin"/><Relationship Id="rId9" Type="http://schemas.openxmlformats.org/officeDocument/2006/relationships/image" Target="../media/image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bin"/><Relationship Id="rId3" Type="http://schemas.openxmlformats.org/officeDocument/2006/relationships/image" Target="../media/image2.bin"/><Relationship Id="rId7" Type="http://schemas.openxmlformats.org/officeDocument/2006/relationships/image" Target="../media/image16.bin"/><Relationship Id="rId12" Type="http://schemas.openxmlformats.org/officeDocument/2006/relationships/image" Target="../media/image21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bin"/><Relationship Id="rId11" Type="http://schemas.openxmlformats.org/officeDocument/2006/relationships/image" Target="../media/image20.bin"/><Relationship Id="rId5" Type="http://schemas.openxmlformats.org/officeDocument/2006/relationships/image" Target="../media/image14.bin"/><Relationship Id="rId10" Type="http://schemas.openxmlformats.org/officeDocument/2006/relationships/image" Target="../media/image19.bin"/><Relationship Id="rId4" Type="http://schemas.openxmlformats.org/officeDocument/2006/relationships/image" Target="../media/image13.bin"/><Relationship Id="rId9" Type="http://schemas.openxmlformats.org/officeDocument/2006/relationships/image" Target="../media/image1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bin"/><Relationship Id="rId13" Type="http://schemas.openxmlformats.org/officeDocument/2006/relationships/image" Target="../media/image30.bin"/><Relationship Id="rId18" Type="http://schemas.openxmlformats.org/officeDocument/2006/relationships/image" Target="../media/image35.bin"/><Relationship Id="rId3" Type="http://schemas.openxmlformats.org/officeDocument/2006/relationships/image" Target="../media/image2.bin"/><Relationship Id="rId7" Type="http://schemas.openxmlformats.org/officeDocument/2006/relationships/image" Target="../media/image24.bin"/><Relationship Id="rId12" Type="http://schemas.openxmlformats.org/officeDocument/2006/relationships/image" Target="../media/image29.bin"/><Relationship Id="rId17" Type="http://schemas.openxmlformats.org/officeDocument/2006/relationships/image" Target="../media/image34.bin"/><Relationship Id="rId2" Type="http://schemas.openxmlformats.org/officeDocument/2006/relationships/image" Target="../media/image1.bin"/><Relationship Id="rId16" Type="http://schemas.openxmlformats.org/officeDocument/2006/relationships/image" Target="../media/image33.bin"/><Relationship Id="rId20" Type="http://schemas.openxmlformats.org/officeDocument/2006/relationships/image" Target="../media/image3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bin"/><Relationship Id="rId11" Type="http://schemas.openxmlformats.org/officeDocument/2006/relationships/image" Target="../media/image28.bin"/><Relationship Id="rId5" Type="http://schemas.openxmlformats.org/officeDocument/2006/relationships/image" Target="../media/image22.bin"/><Relationship Id="rId15" Type="http://schemas.openxmlformats.org/officeDocument/2006/relationships/image" Target="../media/image32.bin"/><Relationship Id="rId10" Type="http://schemas.openxmlformats.org/officeDocument/2006/relationships/image" Target="../media/image27.bin"/><Relationship Id="rId19" Type="http://schemas.openxmlformats.org/officeDocument/2006/relationships/image" Target="../media/image36.bin"/><Relationship Id="rId4" Type="http://schemas.openxmlformats.org/officeDocument/2006/relationships/image" Target="../media/image13.bin"/><Relationship Id="rId9" Type="http://schemas.openxmlformats.org/officeDocument/2006/relationships/image" Target="../media/image26.bin"/><Relationship Id="rId14" Type="http://schemas.openxmlformats.org/officeDocument/2006/relationships/image" Target="../media/image3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7" Type="http://schemas.openxmlformats.org/officeDocument/2006/relationships/image" Target="../media/image40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bin"/><Relationship Id="rId5" Type="http://schemas.openxmlformats.org/officeDocument/2006/relationships/image" Target="../media/image38.bin"/><Relationship Id="rId4" Type="http://schemas.openxmlformats.org/officeDocument/2006/relationships/image" Target="../media/image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bin"/><Relationship Id="rId3" Type="http://schemas.openxmlformats.org/officeDocument/2006/relationships/image" Target="../media/image2.bin"/><Relationship Id="rId7" Type="http://schemas.openxmlformats.org/officeDocument/2006/relationships/image" Target="../media/image4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bin"/><Relationship Id="rId5" Type="http://schemas.openxmlformats.org/officeDocument/2006/relationships/image" Target="../media/image38.bin"/><Relationship Id="rId10" Type="http://schemas.openxmlformats.org/officeDocument/2006/relationships/image" Target="../media/image45.bin"/><Relationship Id="rId4" Type="http://schemas.openxmlformats.org/officeDocument/2006/relationships/image" Target="../media/image6.bin"/><Relationship Id="rId9" Type="http://schemas.openxmlformats.org/officeDocument/2006/relationships/image" Target="../media/image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5038278" y="7705874"/>
            <a:ext cx="3343275" cy="2581126"/>
          </a:xfrm>
          <a:prstGeom prst="rect">
            <a:avLst/>
          </a:prstGeom>
        </p:spPr>
      </p:pic>
      <p:pic>
        <p:nvPicPr>
          <p:cNvPr id="307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31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3639979"/>
            <a:ext cx="7653338" cy="161582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6264"/>
              </a:lnSpc>
            </a:pPr>
            <a:r>
              <a:rPr lang="en-US" sz="5400" spc="-135">
                <a:solidFill>
                  <a:srgbClr val="07071B">
                    <a:alpha val="100000"/>
                  </a:srgbClr>
                </a:solidFill>
                <a:latin typeface="Hanken Grotesk SemiBold" panose="00000700000000000000" pitchFamily="2" charset="0"/>
              </a:rPr>
              <a:t>Financial Sales </a:t>
            </a:r>
            <a:r>
              <a:rPr lang="en-US" sz="5400" spc="-135" dirty="0">
                <a:solidFill>
                  <a:srgbClr val="07071B">
                    <a:alpha val="100000"/>
                  </a:srgbClr>
                </a:solidFill>
                <a:latin typeface="Hanken Grotesk SemiBold" panose="00000700000000000000" pitchFamily="2" charset="0"/>
              </a:rPr>
              <a:t>&amp; Profit Insights</a:t>
            </a:r>
          </a:p>
        </p:txBody>
      </p:sp>
      <p:sp>
        <p:nvSpPr>
          <p:cNvPr id="31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6174105"/>
            <a:ext cx="7653338" cy="1085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35"/>
              </a:lnSpc>
            </a:pPr>
            <a:r>
              <a:rPr lang="en-US" sz="2100" spc="-42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Analyze multi-year sales and profit data by customer type, geography, product, and pricing to drive strategic decisions and maximize profitability.</a:t>
            </a:r>
          </a:p>
        </p:txBody>
      </p:sp>
      <p:pic>
        <p:nvPicPr>
          <p:cNvPr id="315" name="layoutShapeInnerChild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609874"/>
            <a:ext cx="9115425" cy="867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2" name="layoutShapeInnerChild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8488412" cy="10287000"/>
          </a:xfrm>
          <a:prstGeom prst="rect">
            <a:avLst/>
          </a:prstGeom>
        </p:spPr>
      </p:pic>
      <p:pic>
        <p:nvPicPr>
          <p:cNvPr id="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6474440" y="1600295"/>
            <a:ext cx="1047750" cy="1047750"/>
          </a:xfrm>
          <a:prstGeom prst="rect">
            <a:avLst/>
          </a:prstGeom>
        </p:spPr>
      </p:pic>
      <p:pic>
        <p:nvPicPr>
          <p:cNvPr id="32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EEFE2C99-80EF-4D4B-BC3E-F800FA9560A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684752" y="1810512"/>
            <a:ext cx="630936" cy="630936"/>
          </a:xfrm>
          <a:prstGeom prst="rect">
            <a:avLst/>
          </a:prstGeom>
        </p:spPr>
      </p:pic>
      <p:sp>
        <p:nvSpPr>
          <p:cNvPr id="32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1800" y="1964817"/>
            <a:ext cx="9539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b="1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Pivot tables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summarize large datasets by aggregating metrics across multiple dimensions</a:t>
            </a:r>
          </a:p>
        </p:txBody>
      </p:sp>
      <p:pic>
        <p:nvPicPr>
          <p:cNvPr id="3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6474440" y="3108960"/>
            <a:ext cx="1047750" cy="1047750"/>
          </a:xfrm>
          <a:prstGeom prst="rect">
            <a:avLst/>
          </a:prstGeom>
        </p:spPr>
      </p:pic>
      <p:pic>
        <p:nvPicPr>
          <p:cNvPr id="332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635D4537-BC6D-4A27-BEE8-6FED864A69B5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684752" y="3319272"/>
            <a:ext cx="630936" cy="630936"/>
          </a:xfrm>
          <a:prstGeom prst="rect">
            <a:avLst/>
          </a:prstGeom>
        </p:spPr>
      </p:pic>
      <p:sp>
        <p:nvSpPr>
          <p:cNvPr id="33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1800" y="3312414"/>
            <a:ext cx="953928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Enable quick exploration of relationships between variables like </a:t>
            </a:r>
            <a:r>
              <a:rPr lang="en-US" sz="1800" b="1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segments, countries, products, and time periods</a:t>
            </a:r>
          </a:p>
        </p:txBody>
      </p:sp>
      <p:pic>
        <p:nvPicPr>
          <p:cNvPr id="3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6474440" y="4617720"/>
            <a:ext cx="1047750" cy="1047750"/>
          </a:xfrm>
          <a:prstGeom prst="rect">
            <a:avLst/>
          </a:prstGeom>
        </p:spPr>
      </p:pic>
      <p:pic>
        <p:nvPicPr>
          <p:cNvPr id="338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67AEADE1-9848-4E0B-9924-16D8B81A2104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684752" y="4827937"/>
            <a:ext cx="630936" cy="630936"/>
          </a:xfrm>
          <a:prstGeom prst="rect">
            <a:avLst/>
          </a:prstGeom>
        </p:spPr>
      </p:pic>
      <p:sp>
        <p:nvSpPr>
          <p:cNvPr id="34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1800" y="4982337"/>
            <a:ext cx="9539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Present aggregated sums of </a:t>
            </a:r>
            <a:r>
              <a:rPr lang="en-US" sz="1800" b="1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profit, sales, and units sold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to highlight performance metrics</a:t>
            </a:r>
          </a:p>
        </p:txBody>
      </p:sp>
      <p:pic>
        <p:nvPicPr>
          <p:cNvPr id="3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6474440" y="6126385"/>
            <a:ext cx="1047750" cy="1047750"/>
          </a:xfrm>
          <a:prstGeom prst="rect">
            <a:avLst/>
          </a:prstGeom>
        </p:spPr>
      </p:pic>
      <p:pic>
        <p:nvPicPr>
          <p:cNvPr id="344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16B4AC16-6224-4032-A3E3-2877DC956EB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684752" y="6336697"/>
            <a:ext cx="630936" cy="630936"/>
          </a:xfrm>
          <a:prstGeom prst="rect">
            <a:avLst/>
          </a:prstGeom>
        </p:spPr>
      </p:pic>
      <p:sp>
        <p:nvSpPr>
          <p:cNvPr id="34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1800" y="6491002"/>
            <a:ext cx="9539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Facilitate spotting </a:t>
            </a:r>
            <a:r>
              <a:rPr lang="en-US" sz="1800" b="1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trends, outliers, and performance patterns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for deeper analysis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6474440" y="7635145"/>
            <a:ext cx="1047750" cy="1047750"/>
          </a:xfrm>
          <a:prstGeom prst="rect">
            <a:avLst/>
          </a:prstGeom>
        </p:spPr>
      </p:pic>
      <p:pic>
        <p:nvPicPr>
          <p:cNvPr id="350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F32BC735-4E79-4B92-8D51-59108FBCA94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6684752" y="7845457"/>
            <a:ext cx="630936" cy="630936"/>
          </a:xfrm>
          <a:prstGeom prst="rect">
            <a:avLst/>
          </a:prstGeom>
        </p:spPr>
      </p:pic>
      <p:sp>
        <p:nvSpPr>
          <p:cNvPr id="35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1800" y="7838504"/>
            <a:ext cx="953928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Support data-driven decision making, improve forecasting accuracy, and optimize resource allocation</a:t>
            </a:r>
          </a:p>
        </p:txBody>
      </p:sp>
      <p:sp>
        <p:nvSpPr>
          <p:cNvPr id="35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3596830"/>
            <a:ext cx="5214938" cy="1962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00" spc="-105" dirty="0">
                <a:solidFill>
                  <a:srgbClr val="07071B">
                    <a:alpha val="100000"/>
                  </a:srgbClr>
                </a:solidFill>
                <a:latin typeface="Hanken Grotesk SemiBold" panose="00000700000000000000" pitchFamily="2" charset="0"/>
              </a:rPr>
              <a:t>Mastering Pivot Tables for Insightful Business Analysis</a:t>
            </a:r>
          </a:p>
        </p:txBody>
      </p:sp>
      <p:sp>
        <p:nvSpPr>
          <p:cNvPr id="35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5676900"/>
            <a:ext cx="52149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Leverage dynamic data aggregation to uncover key trends, patterns, and outliers across multiple dimensions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63" name="layoutShapeInnerChild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4219575"/>
            <a:ext cx="800100" cy="800100"/>
          </a:xfrm>
          <a:prstGeom prst="rect">
            <a:avLst/>
          </a:prstGeom>
        </p:spPr>
      </p:pic>
      <p:pic>
        <p:nvPicPr>
          <p:cNvPr id="367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D87786-1DD1-47A6-823A-A98EF8E5D67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922020" y="4379595"/>
            <a:ext cx="480060" cy="480060"/>
          </a:xfrm>
          <a:prstGeom prst="rect">
            <a:avLst/>
          </a:prstGeom>
        </p:spPr>
      </p:pic>
      <p:sp>
        <p:nvSpPr>
          <p:cNvPr id="36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866900" y="4057650"/>
            <a:ext cx="27765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1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Segment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: Government, Enterprise, Midmarket, Small Business, Channel Partners</a:t>
            </a:r>
          </a:p>
        </p:txBody>
      </p:sp>
      <p:pic>
        <p:nvPicPr>
          <p:cNvPr id="3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5067300" y="4381500"/>
            <a:ext cx="800100" cy="800100"/>
          </a:xfrm>
          <a:prstGeom prst="rect">
            <a:avLst/>
          </a:prstGeom>
        </p:spPr>
      </p:pic>
      <p:pic>
        <p:nvPicPr>
          <p:cNvPr id="373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CEBD8E8B-1007-4D60-9A26-E0B298D868C1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5227320" y="4541520"/>
            <a:ext cx="480060" cy="480060"/>
          </a:xfrm>
          <a:prstGeom prst="rect">
            <a:avLst/>
          </a:prstGeom>
        </p:spPr>
      </p:pic>
      <p:sp>
        <p:nvSpPr>
          <p:cNvPr id="37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72200" y="4057650"/>
            <a:ext cx="27765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1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Country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: Geographic dimension supporting regional sales analysis</a:t>
            </a:r>
          </a:p>
        </p:txBody>
      </p:sp>
      <p:pic>
        <p:nvPicPr>
          <p:cNvPr id="3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372600" y="4381500"/>
            <a:ext cx="800100" cy="800100"/>
          </a:xfrm>
          <a:prstGeom prst="rect">
            <a:avLst/>
          </a:prstGeom>
        </p:spPr>
      </p:pic>
      <p:pic>
        <p:nvPicPr>
          <p:cNvPr id="37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470AB564-7717-4E81-A889-CE9EAB53F24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9532620" y="4541520"/>
            <a:ext cx="480060" cy="480060"/>
          </a:xfrm>
          <a:prstGeom prst="rect">
            <a:avLst/>
          </a:prstGeom>
        </p:spPr>
      </p:pic>
      <p:sp>
        <p:nvSpPr>
          <p:cNvPr id="38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77500" y="4057650"/>
            <a:ext cx="27765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1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Product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: Includes Carretera, Montana, Paseo, Velo, VTT, Amarilla models</a:t>
            </a:r>
          </a:p>
        </p:txBody>
      </p:sp>
      <p:pic>
        <p:nvPicPr>
          <p:cNvPr id="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3677900" y="4381500"/>
            <a:ext cx="800100" cy="800100"/>
          </a:xfrm>
          <a:prstGeom prst="rect">
            <a:avLst/>
          </a:prstGeom>
        </p:spPr>
      </p:pic>
      <p:pic>
        <p:nvPicPr>
          <p:cNvPr id="385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F86A8C0F-681C-4CE0-AD29-97BD3A296370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3837920" y="4541520"/>
            <a:ext cx="480060" cy="480060"/>
          </a:xfrm>
          <a:prstGeom prst="rect">
            <a:avLst/>
          </a:prstGeom>
        </p:spPr>
      </p:pic>
      <p:sp>
        <p:nvSpPr>
          <p:cNvPr id="38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82800" y="4057650"/>
            <a:ext cx="27765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1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Discount Band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: Low, Medium, High discount levels applied to sales</a:t>
            </a:r>
          </a:p>
        </p:txBody>
      </p:sp>
      <p:pic>
        <p:nvPicPr>
          <p:cNvPr id="3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62000" y="6134100"/>
            <a:ext cx="800100" cy="800100"/>
          </a:xfrm>
          <a:prstGeom prst="rect">
            <a:avLst/>
          </a:prstGeom>
        </p:spPr>
      </p:pic>
      <p:pic>
        <p:nvPicPr>
          <p:cNvPr id="391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1F208E1F-DC9D-4E73-A6A4-05E0311B986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922020" y="6294120"/>
            <a:ext cx="480060" cy="480060"/>
          </a:xfrm>
          <a:prstGeom prst="rect">
            <a:avLst/>
          </a:prstGeom>
        </p:spPr>
      </p:pic>
      <p:sp>
        <p:nvSpPr>
          <p:cNvPr id="39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866900" y="6134100"/>
            <a:ext cx="2776538" cy="1266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b="1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Metrics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: Units Sold, Manufacturing Price, Sale Price, Gross Sales, Discounts, Sales, COGS, Profit</a:t>
            </a:r>
          </a:p>
        </p:txBody>
      </p:sp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5067300" y="6296025"/>
            <a:ext cx="800100" cy="800100"/>
          </a:xfrm>
          <a:prstGeom prst="rect">
            <a:avLst/>
          </a:prstGeom>
        </p:spPr>
      </p:pic>
      <p:pic>
        <p:nvPicPr>
          <p:cNvPr id="397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30C1740F-FE8F-4192-83CD-590BE353BC8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5227320" y="6456045"/>
            <a:ext cx="480060" cy="480060"/>
          </a:xfrm>
          <a:prstGeom prst="rect">
            <a:avLst/>
          </a:prstGeom>
        </p:spPr>
      </p:pic>
      <p:sp>
        <p:nvSpPr>
          <p:cNvPr id="399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72200" y="6134100"/>
            <a:ext cx="27765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Data tracked monthly for years </a:t>
            </a:r>
            <a:r>
              <a:rPr lang="en-US" sz="1650" b="1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2013 and 2014</a:t>
            </a:r>
            <a:r>
              <a:rPr lang="en-US" sz="1650" spc="-30" dirty="0">
                <a:solidFill>
                  <a:srgbClr val="07071B"/>
                </a:solidFill>
                <a:latin typeface="Hanken Grotesk" panose="00000700000000000000" pitchFamily="2" charset="0"/>
              </a:rPr>
              <a:t> enabling time-based trend analysis</a:t>
            </a:r>
          </a:p>
        </p:txBody>
      </p:sp>
      <p:pic>
        <p:nvPicPr>
          <p:cNvPr id="4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372600" y="6300788"/>
            <a:ext cx="800100" cy="800100"/>
          </a:xfrm>
          <a:prstGeom prst="rect">
            <a:avLst/>
          </a:prstGeom>
        </p:spPr>
      </p:pic>
      <p:pic>
        <p:nvPicPr>
          <p:cNvPr id="403" name="iconNod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  <a:extLst>
              <a:ext uri="{0C2A0825-98E4-4052-941A-3B931B061DA8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9532620" y="6460808"/>
            <a:ext cx="480060" cy="480060"/>
          </a:xfrm>
          <a:prstGeom prst="rect">
            <a:avLst/>
          </a:prstGeom>
        </p:spPr>
      </p:pic>
      <p:sp>
        <p:nvSpPr>
          <p:cNvPr id="405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77500" y="6134100"/>
            <a:ext cx="2776538" cy="1266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spc="-30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Rich data structure supports deep insights into sales performance and profitability drivers</a:t>
            </a:r>
          </a:p>
        </p:txBody>
      </p:sp>
      <p:sp>
        <p:nvSpPr>
          <p:cNvPr id="40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734568"/>
            <a:ext cx="167973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00" spc="-105" dirty="0">
                <a:solidFill>
                  <a:srgbClr val="204ECF">
                    <a:alpha val="100000"/>
                  </a:srgbClr>
                </a:solidFill>
                <a:latin typeface="Hanken Grotesk SemiBold" panose="00000700000000000000" pitchFamily="2" charset="0"/>
              </a:rPr>
              <a:t>Dataset Overview: Dimensions Driving Sales Insights</a:t>
            </a:r>
          </a:p>
        </p:txBody>
      </p:sp>
      <p:sp>
        <p:nvSpPr>
          <p:cNvPr id="40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1524000"/>
            <a:ext cx="16797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Multi-dimensional data from 2013-2014 enables detailed sales and profitability analysis across markets and segments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6" name="layoutShapeInnerChild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01588" y="2287488"/>
            <a:ext cx="2609850" cy="1019175"/>
          </a:xfrm>
          <a:prstGeom prst="rect">
            <a:avLst/>
          </a:prstGeom>
        </p:spPr>
      </p:pic>
      <p:pic>
        <p:nvPicPr>
          <p:cNvPr id="4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588" y="2287488"/>
            <a:ext cx="2615059" cy="1041350"/>
          </a:xfrm>
          <a:prstGeom prst="rect">
            <a:avLst/>
          </a:prstGeom>
        </p:spPr>
      </p:pic>
      <p:sp>
        <p:nvSpPr>
          <p:cNvPr id="422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31061" y="2637472"/>
            <a:ext cx="985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FFFFFF">
                    <a:alpha val="100000"/>
                  </a:srgbClr>
                </a:solidFill>
                <a:latin typeface="Hanken Grotesk" panose="00000700000000000000" pitchFamily="2" charset="0"/>
              </a:rPr>
              <a:t>Segment</a:t>
            </a:r>
          </a:p>
        </p:txBody>
      </p:sp>
      <p:pic>
        <p:nvPicPr>
          <p:cNvPr id="4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3450878" y="2287488"/>
            <a:ext cx="2133600" cy="1019175"/>
          </a:xfrm>
          <a:prstGeom prst="rect">
            <a:avLst/>
          </a:prstGeom>
        </p:spPr>
      </p:pic>
      <p:pic>
        <p:nvPicPr>
          <p:cNvPr id="4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0878" y="2287488"/>
            <a:ext cx="2129284" cy="1041350"/>
          </a:xfrm>
          <a:prstGeom prst="rect">
            <a:avLst/>
          </a:prstGeom>
        </p:spPr>
      </p:pic>
      <p:sp>
        <p:nvSpPr>
          <p:cNvPr id="428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041553" y="2637472"/>
            <a:ext cx="9858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FFFFFF">
                    <a:alpha val="100000"/>
                  </a:srgbClr>
                </a:solidFill>
                <a:latin typeface="Hanken Grotesk" panose="00000700000000000000" pitchFamily="2" charset="0"/>
              </a:rPr>
              <a:t>Country</a:t>
            </a:r>
          </a:p>
        </p:txBody>
      </p:sp>
      <p:pic>
        <p:nvPicPr>
          <p:cNvPr id="4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5622578" y="2287488"/>
            <a:ext cx="2352675" cy="1019175"/>
          </a:xfrm>
          <a:prstGeom prst="rect">
            <a:avLst/>
          </a:prstGeom>
        </p:spPr>
      </p:pic>
      <p:pic>
        <p:nvPicPr>
          <p:cNvPr id="4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578" y="2287488"/>
            <a:ext cx="2348359" cy="1041350"/>
          </a:xfrm>
          <a:prstGeom prst="rect">
            <a:avLst/>
          </a:prstGeom>
        </p:spPr>
      </p:pic>
      <p:sp>
        <p:nvSpPr>
          <p:cNvPr id="434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0020" y="2637472"/>
            <a:ext cx="11096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FFFFFF">
                    <a:alpha val="100000"/>
                  </a:srgbClr>
                </a:solidFill>
                <a:latin typeface="Hanken Grotesk" panose="00000700000000000000" pitchFamily="2" charset="0"/>
              </a:rPr>
              <a:t>Total Sales</a:t>
            </a:r>
          </a:p>
        </p:txBody>
      </p:sp>
      <p:pic>
        <p:nvPicPr>
          <p:cNvPr id="4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</a:blip>
          <a:stretch/>
        </p:blipFill>
        <p:spPr>
          <a:xfrm>
            <a:off x="8011716" y="2287488"/>
            <a:ext cx="4400550" cy="1019175"/>
          </a:xfrm>
          <a:prstGeom prst="rect">
            <a:avLst/>
          </a:prstGeom>
        </p:spPr>
      </p:pic>
      <p:pic>
        <p:nvPicPr>
          <p:cNvPr id="4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16" y="2287488"/>
            <a:ext cx="4405759" cy="1041350"/>
          </a:xfrm>
          <a:prstGeom prst="rect">
            <a:avLst/>
          </a:prstGeom>
        </p:spPr>
      </p:pic>
      <p:sp>
        <p:nvSpPr>
          <p:cNvPr id="440" name="text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69685" y="2637472"/>
            <a:ext cx="11191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FFFFFF">
                    <a:alpha val="100000"/>
                  </a:srgbClr>
                </a:solidFill>
                <a:latin typeface="Hanken Grotesk" panose="00000700000000000000" pitchFamily="2" charset="0"/>
              </a:rPr>
              <a:t>Total Profit</a:t>
            </a:r>
          </a:p>
        </p:txBody>
      </p:sp>
      <p:pic>
        <p:nvPicPr>
          <p:cNvPr id="4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801588" y="3309640"/>
            <a:ext cx="2609850" cy="1019175"/>
          </a:xfrm>
          <a:prstGeom prst="rect">
            <a:avLst/>
          </a:prstGeom>
        </p:spPr>
      </p:pic>
      <p:pic>
        <p:nvPicPr>
          <p:cNvPr id="4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719" y="3309747"/>
            <a:ext cx="2615059" cy="1041350"/>
          </a:xfrm>
          <a:prstGeom prst="rect">
            <a:avLst/>
          </a:prstGeom>
        </p:spPr>
      </p:pic>
      <p:sp>
        <p:nvSpPr>
          <p:cNvPr id="446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3659696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Government</a:t>
            </a:r>
          </a:p>
        </p:txBody>
      </p:sp>
      <p:pic>
        <p:nvPicPr>
          <p:cNvPr id="4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3450878" y="3309640"/>
            <a:ext cx="2133600" cy="1019175"/>
          </a:xfrm>
          <a:prstGeom prst="rect">
            <a:avLst/>
          </a:prstGeom>
        </p:spPr>
      </p:pic>
      <p:pic>
        <p:nvPicPr>
          <p:cNvPr id="4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1003" y="3309747"/>
            <a:ext cx="2129284" cy="1041350"/>
          </a:xfrm>
          <a:prstGeom prst="rect">
            <a:avLst/>
          </a:prstGeom>
        </p:spPr>
      </p:pic>
      <p:sp>
        <p:nvSpPr>
          <p:cNvPr id="452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3659696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USA</a:t>
            </a:r>
          </a:p>
        </p:txBody>
      </p:sp>
      <p:pic>
        <p:nvPicPr>
          <p:cNvPr id="4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/>
          </a:blip>
          <a:stretch/>
        </p:blipFill>
        <p:spPr>
          <a:xfrm>
            <a:off x="5622578" y="3309640"/>
            <a:ext cx="2352675" cy="1019175"/>
          </a:xfrm>
          <a:prstGeom prst="rect">
            <a:avLst/>
          </a:prstGeom>
        </p:spPr>
      </p:pic>
      <p:pic>
        <p:nvPicPr>
          <p:cNvPr id="4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703" y="3309747"/>
            <a:ext cx="2348359" cy="1041350"/>
          </a:xfrm>
          <a:prstGeom prst="rect">
            <a:avLst/>
          </a:prstGeom>
        </p:spPr>
      </p:pic>
      <p:sp>
        <p:nvSpPr>
          <p:cNvPr id="458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3659696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450M</a:t>
            </a:r>
          </a:p>
        </p:txBody>
      </p:sp>
      <p:pic>
        <p:nvPicPr>
          <p:cNvPr id="4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alphaModFix/>
          </a:blip>
          <a:stretch/>
        </p:blipFill>
        <p:spPr>
          <a:xfrm>
            <a:off x="8011716" y="3309640"/>
            <a:ext cx="4400550" cy="1019175"/>
          </a:xfrm>
          <a:prstGeom prst="rect">
            <a:avLst/>
          </a:prstGeom>
        </p:spPr>
      </p:pic>
      <p:pic>
        <p:nvPicPr>
          <p:cNvPr id="4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63" y="3309747"/>
            <a:ext cx="4405759" cy="1041350"/>
          </a:xfrm>
          <a:prstGeom prst="rect">
            <a:avLst/>
          </a:prstGeom>
        </p:spPr>
      </p:pic>
      <p:sp>
        <p:nvSpPr>
          <p:cNvPr id="464" name="Label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3659696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Highest Profit</a:t>
            </a:r>
          </a:p>
        </p:txBody>
      </p:sp>
      <p:pic>
        <p:nvPicPr>
          <p:cNvPr id="4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/>
          </a:blip>
          <a:stretch/>
        </p:blipFill>
        <p:spPr>
          <a:xfrm>
            <a:off x="801588" y="4331791"/>
            <a:ext cx="2609850" cy="1019175"/>
          </a:xfrm>
          <a:prstGeom prst="rect">
            <a:avLst/>
          </a:prstGeom>
        </p:spPr>
      </p:pic>
      <p:pic>
        <p:nvPicPr>
          <p:cNvPr id="4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719" y="4331875"/>
            <a:ext cx="2615059" cy="1041350"/>
          </a:xfrm>
          <a:prstGeom prst="rect">
            <a:avLst/>
          </a:prstGeom>
        </p:spPr>
      </p:pic>
      <p:sp>
        <p:nvSpPr>
          <p:cNvPr id="470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4681823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Government</a:t>
            </a:r>
          </a:p>
        </p:txBody>
      </p:sp>
      <p:pic>
        <p:nvPicPr>
          <p:cNvPr id="4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/>
          </a:blip>
          <a:stretch/>
        </p:blipFill>
        <p:spPr>
          <a:xfrm>
            <a:off x="3450878" y="4331791"/>
            <a:ext cx="2133600" cy="1019175"/>
          </a:xfrm>
          <a:prstGeom prst="rect">
            <a:avLst/>
          </a:prstGeom>
        </p:spPr>
      </p:pic>
      <p:pic>
        <p:nvPicPr>
          <p:cNvPr id="4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1003" y="4331875"/>
            <a:ext cx="2129284" cy="1041350"/>
          </a:xfrm>
          <a:prstGeom prst="rect">
            <a:avLst/>
          </a:prstGeom>
        </p:spPr>
      </p:pic>
      <p:sp>
        <p:nvSpPr>
          <p:cNvPr id="476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4681823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Canada</a:t>
            </a:r>
          </a:p>
        </p:txBody>
      </p:sp>
      <p:pic>
        <p:nvPicPr>
          <p:cNvPr id="4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/>
          </a:blip>
          <a:stretch/>
        </p:blipFill>
        <p:spPr>
          <a:xfrm>
            <a:off x="5622578" y="4331791"/>
            <a:ext cx="2352675" cy="1019175"/>
          </a:xfrm>
          <a:prstGeom prst="rect">
            <a:avLst/>
          </a:prstGeom>
        </p:spPr>
      </p:pic>
      <p:pic>
        <p:nvPicPr>
          <p:cNvPr id="4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703" y="4331875"/>
            <a:ext cx="2348359" cy="1041350"/>
          </a:xfrm>
          <a:prstGeom prst="rect">
            <a:avLst/>
          </a:prstGeom>
        </p:spPr>
      </p:pic>
      <p:sp>
        <p:nvSpPr>
          <p:cNvPr id="482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4681823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120M</a:t>
            </a:r>
          </a:p>
        </p:txBody>
      </p:sp>
      <p:pic>
        <p:nvPicPr>
          <p:cNvPr id="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/>
          </a:blip>
          <a:stretch/>
        </p:blipFill>
        <p:spPr>
          <a:xfrm>
            <a:off x="8011716" y="4331791"/>
            <a:ext cx="4400550" cy="1019175"/>
          </a:xfrm>
          <a:prstGeom prst="rect">
            <a:avLst/>
          </a:prstGeom>
        </p:spPr>
      </p:pic>
      <p:pic>
        <p:nvPicPr>
          <p:cNvPr id="4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63" y="4331875"/>
            <a:ext cx="4405759" cy="1041350"/>
          </a:xfrm>
          <a:prstGeom prst="rect">
            <a:avLst/>
          </a:prstGeom>
        </p:spPr>
      </p:pic>
      <p:sp>
        <p:nvSpPr>
          <p:cNvPr id="488" name="Label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4681823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Strong Profit</a:t>
            </a:r>
          </a:p>
        </p:txBody>
      </p:sp>
      <p:pic>
        <p:nvPicPr>
          <p:cNvPr id="4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801719" y="5354002"/>
            <a:ext cx="2609850" cy="1019175"/>
          </a:xfrm>
          <a:prstGeom prst="rect">
            <a:avLst/>
          </a:prstGeom>
        </p:spPr>
      </p:pic>
      <p:pic>
        <p:nvPicPr>
          <p:cNvPr id="4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719" y="5354002"/>
            <a:ext cx="2615059" cy="1041350"/>
          </a:xfrm>
          <a:prstGeom prst="rect">
            <a:avLst/>
          </a:prstGeom>
        </p:spPr>
      </p:pic>
      <p:sp>
        <p:nvSpPr>
          <p:cNvPr id="494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5703951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Enterprise</a:t>
            </a:r>
          </a:p>
        </p:txBody>
      </p:sp>
      <p:pic>
        <p:nvPicPr>
          <p:cNvPr id="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3451003" y="5354002"/>
            <a:ext cx="2133600" cy="1019175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1003" y="5354002"/>
            <a:ext cx="2129284" cy="1041350"/>
          </a:xfrm>
          <a:prstGeom prst="rect">
            <a:avLst/>
          </a:prstGeom>
        </p:spPr>
      </p:pic>
      <p:sp>
        <p:nvSpPr>
          <p:cNvPr id="500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5703951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Germany</a:t>
            </a:r>
          </a:p>
        </p:txBody>
      </p:sp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/>
          </a:blip>
          <a:stretch/>
        </p:blipFill>
        <p:spPr>
          <a:xfrm>
            <a:off x="5622703" y="5354002"/>
            <a:ext cx="2352675" cy="1019175"/>
          </a:xfrm>
          <a:prstGeom prst="rect">
            <a:avLst/>
          </a:prstGeom>
        </p:spPr>
      </p:pic>
      <p:pic>
        <p:nvPicPr>
          <p:cNvPr id="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703" y="5354002"/>
            <a:ext cx="2348359" cy="1041350"/>
          </a:xfrm>
          <a:prstGeom prst="rect">
            <a:avLst/>
          </a:prstGeom>
        </p:spPr>
      </p:pic>
      <p:sp>
        <p:nvSpPr>
          <p:cNvPr id="506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5703951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300M</a:t>
            </a:r>
          </a:p>
        </p:txBody>
      </p:sp>
      <p:pic>
        <p:nvPicPr>
          <p:cNvPr id="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alphaModFix/>
          </a:blip>
          <a:stretch/>
        </p:blipFill>
        <p:spPr>
          <a:xfrm>
            <a:off x="8011763" y="5354002"/>
            <a:ext cx="4400550" cy="1019175"/>
          </a:xfrm>
          <a:prstGeom prst="rect">
            <a:avLst/>
          </a:prstGeom>
        </p:spPr>
      </p:pic>
      <p:pic>
        <p:nvPicPr>
          <p:cNvPr id="5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63" y="5354002"/>
            <a:ext cx="4405759" cy="1041350"/>
          </a:xfrm>
          <a:prstGeom prst="rect">
            <a:avLst/>
          </a:prstGeom>
        </p:spPr>
      </p:pic>
      <p:sp>
        <p:nvSpPr>
          <p:cNvPr id="512" name="Label-3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5703951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Negative Profit in areas</a:t>
            </a:r>
          </a:p>
        </p:txBody>
      </p:sp>
      <p:pic>
        <p:nvPicPr>
          <p:cNvPr id="5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/>
          </a:blip>
          <a:stretch/>
        </p:blipFill>
        <p:spPr>
          <a:xfrm>
            <a:off x="801719" y="6376226"/>
            <a:ext cx="2609850" cy="1019175"/>
          </a:xfrm>
          <a:prstGeom prst="rect">
            <a:avLst/>
          </a:prstGeom>
        </p:spPr>
      </p:pic>
      <p:pic>
        <p:nvPicPr>
          <p:cNvPr id="5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719" y="6376226"/>
            <a:ext cx="2615059" cy="1041350"/>
          </a:xfrm>
          <a:prstGeom prst="rect">
            <a:avLst/>
          </a:prstGeom>
        </p:spPr>
      </p:pic>
      <p:sp>
        <p:nvSpPr>
          <p:cNvPr id="518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6726079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Enterprise</a:t>
            </a:r>
          </a:p>
        </p:txBody>
      </p:sp>
      <p:pic>
        <p:nvPicPr>
          <p:cNvPr id="5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/>
          </a:blip>
          <a:stretch/>
        </p:blipFill>
        <p:spPr>
          <a:xfrm>
            <a:off x="3451003" y="6376226"/>
            <a:ext cx="2133600" cy="1019175"/>
          </a:xfrm>
          <a:prstGeom prst="rect">
            <a:avLst/>
          </a:prstGeom>
        </p:spPr>
      </p:pic>
      <p:pic>
        <p:nvPicPr>
          <p:cNvPr id="5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1003" y="6376226"/>
            <a:ext cx="2129284" cy="1041350"/>
          </a:xfrm>
          <a:prstGeom prst="rect">
            <a:avLst/>
          </a:prstGeom>
        </p:spPr>
      </p:pic>
      <p:sp>
        <p:nvSpPr>
          <p:cNvPr id="524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6726079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France</a:t>
            </a:r>
          </a:p>
        </p:txBody>
      </p:sp>
      <p:pic>
        <p:nvPicPr>
          <p:cNvPr id="5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/>
          </a:blip>
          <a:stretch/>
        </p:blipFill>
        <p:spPr>
          <a:xfrm>
            <a:off x="5622703" y="6376226"/>
            <a:ext cx="2352675" cy="1019175"/>
          </a:xfrm>
          <a:prstGeom prst="rect">
            <a:avLst/>
          </a:prstGeom>
        </p:spPr>
      </p:pic>
      <p:pic>
        <p:nvPicPr>
          <p:cNvPr id="5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703" y="6376226"/>
            <a:ext cx="2348359" cy="1041350"/>
          </a:xfrm>
          <a:prstGeom prst="rect">
            <a:avLst/>
          </a:prstGeom>
        </p:spPr>
      </p:pic>
      <p:sp>
        <p:nvSpPr>
          <p:cNvPr id="530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6726079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280M</a:t>
            </a:r>
          </a:p>
        </p:txBody>
      </p:sp>
      <p:pic>
        <p:nvPicPr>
          <p:cNvPr id="5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/>
          </a:blip>
          <a:stretch/>
        </p:blipFill>
        <p:spPr>
          <a:xfrm>
            <a:off x="8011763" y="6376226"/>
            <a:ext cx="4400550" cy="1019175"/>
          </a:xfrm>
          <a:prstGeom prst="rect">
            <a:avLst/>
          </a:prstGeom>
        </p:spPr>
      </p:pic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63" y="6376226"/>
            <a:ext cx="4405759" cy="1041350"/>
          </a:xfrm>
          <a:prstGeom prst="rect">
            <a:avLst/>
          </a:prstGeom>
        </p:spPr>
      </p:pic>
      <p:sp>
        <p:nvSpPr>
          <p:cNvPr id="536" name="Label-4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6726079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Mixed Profit Results</a:t>
            </a:r>
          </a:p>
        </p:txBody>
      </p:sp>
      <p:pic>
        <p:nvPicPr>
          <p:cNvPr id="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801719" y="7398353"/>
            <a:ext cx="2609850" cy="1019175"/>
          </a:xfrm>
          <a:prstGeom prst="rect">
            <a:avLst/>
          </a:prstGeom>
        </p:spPr>
      </p:pic>
      <p:pic>
        <p:nvPicPr>
          <p:cNvPr id="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719" y="7398353"/>
            <a:ext cx="2615059" cy="1041350"/>
          </a:xfrm>
          <a:prstGeom prst="rect">
            <a:avLst/>
          </a:prstGeom>
        </p:spPr>
      </p:pic>
      <p:sp>
        <p:nvSpPr>
          <p:cNvPr id="542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7748302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SMB</a:t>
            </a:r>
          </a:p>
        </p:txBody>
      </p:sp>
      <p:pic>
        <p:nvPicPr>
          <p:cNvPr id="5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3451003" y="7398353"/>
            <a:ext cx="2133600" cy="1019175"/>
          </a:xfrm>
          <a:prstGeom prst="rect">
            <a:avLst/>
          </a:prstGeom>
        </p:spPr>
      </p:pic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1003" y="7398353"/>
            <a:ext cx="2129284" cy="1041350"/>
          </a:xfrm>
          <a:prstGeom prst="rect">
            <a:avLst/>
          </a:prstGeom>
        </p:spPr>
      </p:pic>
      <p:sp>
        <p:nvSpPr>
          <p:cNvPr id="548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7748302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Mexico</a:t>
            </a:r>
          </a:p>
        </p:txBody>
      </p:sp>
      <p:pic>
        <p:nvPicPr>
          <p:cNvPr id="5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/>
          </a:blip>
          <a:stretch/>
        </p:blipFill>
        <p:spPr>
          <a:xfrm>
            <a:off x="5622703" y="7398353"/>
            <a:ext cx="2352675" cy="1019175"/>
          </a:xfrm>
          <a:prstGeom prst="rect">
            <a:avLst/>
          </a:prstGeom>
        </p:spPr>
      </p:pic>
      <p:pic>
        <p:nvPicPr>
          <p:cNvPr id="5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703" y="7398353"/>
            <a:ext cx="2348359" cy="1041350"/>
          </a:xfrm>
          <a:prstGeom prst="rect">
            <a:avLst/>
          </a:prstGeom>
        </p:spPr>
      </p:pic>
      <p:sp>
        <p:nvSpPr>
          <p:cNvPr id="554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7748302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150M</a:t>
            </a:r>
          </a:p>
        </p:txBody>
      </p:sp>
      <p:pic>
        <p:nvPicPr>
          <p:cNvPr id="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alphaModFix/>
          </a:blip>
          <a:stretch/>
        </p:blipFill>
        <p:spPr>
          <a:xfrm>
            <a:off x="8011763" y="7398353"/>
            <a:ext cx="4400550" cy="1019175"/>
          </a:xfrm>
          <a:prstGeom prst="rect">
            <a:avLst/>
          </a:prstGeom>
        </p:spPr>
      </p:pic>
      <p:pic>
        <p:nvPicPr>
          <p:cNvPr id="5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63" y="7398353"/>
            <a:ext cx="4405759" cy="1041350"/>
          </a:xfrm>
          <a:prstGeom prst="rect">
            <a:avLst/>
          </a:prstGeom>
        </p:spPr>
      </p:pic>
      <p:sp>
        <p:nvSpPr>
          <p:cNvPr id="560" name="Label-5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7748302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Moderate Profit</a:t>
            </a:r>
          </a:p>
        </p:txBody>
      </p:sp>
      <p:pic>
        <p:nvPicPr>
          <p:cNvPr id="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/>
          </a:blip>
          <a:stretch/>
        </p:blipFill>
        <p:spPr>
          <a:xfrm>
            <a:off x="801588" y="8420397"/>
            <a:ext cx="2609850" cy="1019175"/>
          </a:xfrm>
          <a:prstGeom prst="rect">
            <a:avLst/>
          </a:prstGeom>
        </p:spPr>
      </p:pic>
      <p:pic>
        <p:nvPicPr>
          <p:cNvPr id="5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01588" y="8420397"/>
            <a:ext cx="2615059" cy="1041350"/>
          </a:xfrm>
          <a:prstGeom prst="rect">
            <a:avLst/>
          </a:prstGeom>
        </p:spPr>
      </p:pic>
      <p:sp>
        <p:nvSpPr>
          <p:cNvPr id="566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878" y="8770525"/>
            <a:ext cx="23860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SMB</a:t>
            </a:r>
          </a:p>
        </p:txBody>
      </p:sp>
      <p:pic>
        <p:nvPicPr>
          <p:cNvPr id="5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/>
          </a:blip>
          <a:stretch/>
        </p:blipFill>
        <p:spPr>
          <a:xfrm>
            <a:off x="3450878" y="8420397"/>
            <a:ext cx="2133600" cy="1019175"/>
          </a:xfrm>
          <a:prstGeom prst="rect">
            <a:avLst/>
          </a:prstGeom>
        </p:spPr>
      </p:pic>
      <p:pic>
        <p:nvPicPr>
          <p:cNvPr id="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3450878" y="8420397"/>
            <a:ext cx="2129284" cy="1041350"/>
          </a:xfrm>
          <a:prstGeom prst="rect">
            <a:avLst/>
          </a:prstGeom>
        </p:spPr>
      </p:pic>
      <p:sp>
        <p:nvSpPr>
          <p:cNvPr id="572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82162" y="8770525"/>
            <a:ext cx="190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USA</a:t>
            </a:r>
          </a:p>
        </p:txBody>
      </p:sp>
      <p:pic>
        <p:nvPicPr>
          <p:cNvPr id="5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/>
          </a:blip>
          <a:stretch/>
        </p:blipFill>
        <p:spPr>
          <a:xfrm>
            <a:off x="5622578" y="8420397"/>
            <a:ext cx="2352675" cy="1019175"/>
          </a:xfrm>
          <a:prstGeom prst="rect">
            <a:avLst/>
          </a:prstGeom>
        </p:spPr>
      </p:pic>
      <p:pic>
        <p:nvPicPr>
          <p:cNvPr id="5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622578" y="8420397"/>
            <a:ext cx="2348359" cy="1041350"/>
          </a:xfrm>
          <a:prstGeom prst="rect">
            <a:avLst/>
          </a:prstGeom>
        </p:spPr>
      </p:pic>
      <p:sp>
        <p:nvSpPr>
          <p:cNvPr id="578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3957" y="8770525"/>
            <a:ext cx="21193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200M</a:t>
            </a:r>
          </a:p>
        </p:txBody>
      </p:sp>
      <p:pic>
        <p:nvPicPr>
          <p:cNvPr id="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/>
          </a:blip>
          <a:stretch/>
        </p:blipFill>
        <p:spPr>
          <a:xfrm>
            <a:off x="8011716" y="8420397"/>
            <a:ext cx="4400550" cy="1019175"/>
          </a:xfrm>
          <a:prstGeom prst="rect">
            <a:avLst/>
          </a:prstGeom>
        </p:spPr>
      </p:pic>
      <p:pic>
        <p:nvPicPr>
          <p:cNvPr id="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8011716" y="8420397"/>
            <a:ext cx="4405759" cy="1041350"/>
          </a:xfrm>
          <a:prstGeom prst="rect">
            <a:avLst/>
          </a:prstGeom>
        </p:spPr>
      </p:pic>
      <p:sp>
        <p:nvSpPr>
          <p:cNvPr id="584" name="Label-6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43018" y="8770525"/>
            <a:ext cx="4176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Positive Profit</a:t>
            </a:r>
          </a:p>
        </p:txBody>
      </p:sp>
      <p:sp>
        <p:nvSpPr>
          <p:cNvPr id="58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4457700"/>
            <a:ext cx="45672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00" spc="-27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The Government segment delivers the highest total profits across key markets.</a:t>
            </a:r>
          </a:p>
        </p:txBody>
      </p:sp>
      <p:sp>
        <p:nvSpPr>
          <p:cNvPr id="58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5238750"/>
            <a:ext cx="45672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00" spc="-27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Enterprise segment records negative profit in some countries despite strong sales volumes.</a:t>
            </a:r>
          </a:p>
        </p:txBody>
      </p:sp>
      <p:sp>
        <p:nvSpPr>
          <p:cNvPr id="59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6019800"/>
            <a:ext cx="45672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00" spc="-27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Canada, France, Germany, Mexico, and USA show distinct sales and profitability patterns.</a:t>
            </a:r>
          </a:p>
        </p:txBody>
      </p:sp>
      <p:sp>
        <p:nvSpPr>
          <p:cNvPr id="59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6800850"/>
            <a:ext cx="45672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00" spc="-27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Segmented analysis enables targeted strategies to boost revenue and minimize losses.</a:t>
            </a:r>
          </a:p>
        </p:txBody>
      </p:sp>
      <p:sp>
        <p:nvSpPr>
          <p:cNvPr id="59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734568"/>
            <a:ext cx="167973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00" spc="-105" dirty="0">
                <a:solidFill>
                  <a:srgbClr val="204ECF">
                    <a:alpha val="100000"/>
                  </a:srgbClr>
                </a:solidFill>
                <a:latin typeface="Hanken Grotesk SemiBold" panose="00000700000000000000" pitchFamily="2" charset="0"/>
              </a:rPr>
              <a:t>Sales and Profit Performance by Segment and Country</a:t>
            </a:r>
          </a:p>
        </p:txBody>
      </p:sp>
      <p:sp>
        <p:nvSpPr>
          <p:cNvPr id="59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1524000"/>
            <a:ext cx="16797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Identifying key markets and customer segments driving profitability and growth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03" name="layoutShapeInnerChild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524000" y="4205288"/>
            <a:ext cx="1371600" cy="1371600"/>
          </a:xfrm>
          <a:prstGeom prst="rect">
            <a:avLst/>
          </a:prstGeom>
        </p:spPr>
      </p:pic>
      <p:pic>
        <p:nvPicPr>
          <p:cNvPr id="607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C3B050C1-417F-4822-B8A0-167C39BDAC1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798320" y="4479608"/>
            <a:ext cx="822960" cy="822960"/>
          </a:xfrm>
          <a:prstGeom prst="rect">
            <a:avLst/>
          </a:prstGeom>
        </p:spPr>
      </p:pic>
      <p:sp>
        <p:nvSpPr>
          <p:cNvPr id="60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5976938"/>
            <a:ext cx="2928938" cy="16192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Units sold data reveals distinct sales volumes across key products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Amarilla, Carretera, Montana, Paseo, Velo, and VTT</a:t>
            </a:r>
          </a:p>
        </p:txBody>
      </p:sp>
      <p:pic>
        <p:nvPicPr>
          <p:cNvPr id="6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4991100" y="4205288"/>
            <a:ext cx="1371600" cy="1371600"/>
          </a:xfrm>
          <a:prstGeom prst="rect">
            <a:avLst/>
          </a:prstGeom>
        </p:spPr>
      </p:pic>
      <p:pic>
        <p:nvPicPr>
          <p:cNvPr id="613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E0832D96-D2D1-4E2E-AC8D-AE56928539F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5265420" y="4479608"/>
            <a:ext cx="822960" cy="822960"/>
          </a:xfrm>
          <a:prstGeom prst="rect">
            <a:avLst/>
          </a:prstGeom>
        </p:spPr>
      </p:pic>
      <p:sp>
        <p:nvSpPr>
          <p:cNvPr id="61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29100" y="5976938"/>
            <a:ext cx="292893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b="1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Paseo and Velo show the highest units sold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, indicating strong popularity and market demand</a:t>
            </a:r>
          </a:p>
        </p:txBody>
      </p:sp>
      <p:pic>
        <p:nvPicPr>
          <p:cNvPr id="6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458200" y="4205288"/>
            <a:ext cx="1371600" cy="1371600"/>
          </a:xfrm>
          <a:prstGeom prst="rect">
            <a:avLst/>
          </a:prstGeom>
        </p:spPr>
      </p:pic>
      <p:pic>
        <p:nvPicPr>
          <p:cNvPr id="61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A8BBA72F-76B1-42E3-9C4F-AFF5CED98DCE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8732520" y="4479608"/>
            <a:ext cx="822960" cy="822960"/>
          </a:xfrm>
          <a:prstGeom prst="rect">
            <a:avLst/>
          </a:prstGeom>
        </p:spPr>
      </p:pic>
      <p:sp>
        <p:nvSpPr>
          <p:cNvPr id="62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96200" y="5976938"/>
            <a:ext cx="292893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Understanding product-wise sales volumes helps optimize </a:t>
            </a:r>
            <a:r>
              <a:rPr lang="en-US" sz="1800" b="1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inventory management and marketing focus</a:t>
            </a:r>
          </a:p>
        </p:txBody>
      </p:sp>
      <p:pic>
        <p:nvPicPr>
          <p:cNvPr id="6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1925300" y="4205288"/>
            <a:ext cx="1371600" cy="1371600"/>
          </a:xfrm>
          <a:prstGeom prst="rect">
            <a:avLst/>
          </a:prstGeom>
        </p:spPr>
      </p:pic>
      <p:pic>
        <p:nvPicPr>
          <p:cNvPr id="625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625CAC12-9B7A-457C-8E31-3339F82AEF9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2199620" y="4479608"/>
            <a:ext cx="822960" cy="822960"/>
          </a:xfrm>
          <a:prstGeom prst="rect">
            <a:avLst/>
          </a:prstGeom>
        </p:spPr>
      </p:pic>
      <p:sp>
        <p:nvSpPr>
          <p:cNvPr id="62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63300" y="5976938"/>
            <a:ext cx="2928938" cy="16192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Sales insights guide </a:t>
            </a:r>
            <a:r>
              <a:rPr lang="en-US" sz="1800" b="1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product development decisions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to align with customer preferences and boost efficiency</a:t>
            </a:r>
          </a:p>
        </p:txBody>
      </p:sp>
      <p:pic>
        <p:nvPicPr>
          <p:cNvPr id="6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5392400" y="4205288"/>
            <a:ext cx="1371600" cy="1371600"/>
          </a:xfrm>
          <a:prstGeom prst="rect">
            <a:avLst/>
          </a:prstGeom>
        </p:spPr>
      </p:pic>
      <p:pic>
        <p:nvPicPr>
          <p:cNvPr id="631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20A4BE60-1DB5-4ACF-998D-6CC60E13D57A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5666720" y="4479608"/>
            <a:ext cx="822960" cy="822960"/>
          </a:xfrm>
          <a:prstGeom prst="rect">
            <a:avLst/>
          </a:prstGeom>
        </p:spPr>
      </p:pic>
      <p:sp>
        <p:nvSpPr>
          <p:cNvPr id="63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30400" y="5976938"/>
            <a:ext cx="292893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Data-driven approach ensures maximizing sales efficiency across market segments</a:t>
            </a:r>
          </a:p>
        </p:txBody>
      </p:sp>
      <p:sp>
        <p:nvSpPr>
          <p:cNvPr id="63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734568"/>
            <a:ext cx="167973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00" spc="-105" dirty="0">
                <a:solidFill>
                  <a:srgbClr val="204ECF">
                    <a:alpha val="100000"/>
                  </a:srgbClr>
                </a:solidFill>
                <a:latin typeface="Hanken Grotesk SemiBold" panose="00000700000000000000" pitchFamily="2" charset="0"/>
              </a:rPr>
              <a:t>Analyzing Product Sales Volumes and Units Sold</a:t>
            </a:r>
          </a:p>
        </p:txBody>
      </p:sp>
      <p:sp>
        <p:nvSpPr>
          <p:cNvPr id="63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1524000"/>
            <a:ext cx="16797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Insights into product performance driving inventory, marketing, and development strategies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4" name="layoutShapeInnerChild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8488412" cy="10287000"/>
          </a:xfrm>
          <a:prstGeom prst="rect">
            <a:avLst/>
          </a:prstGeom>
        </p:spPr>
      </p:pic>
      <p:pic>
        <p:nvPicPr>
          <p:cNvPr id="6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781800" y="800100"/>
            <a:ext cx="1371600" cy="1371600"/>
          </a:xfrm>
          <a:prstGeom prst="rect">
            <a:avLst/>
          </a:prstGeom>
        </p:spPr>
      </p:pic>
      <p:pic>
        <p:nvPicPr>
          <p:cNvPr id="64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6CA8EB25-DE23-43BC-BFF3-0EF386ECF40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056120" y="1074420"/>
            <a:ext cx="822960" cy="822960"/>
          </a:xfrm>
          <a:prstGeom prst="rect">
            <a:avLst/>
          </a:prstGeom>
        </p:spPr>
      </p:pic>
      <p:sp>
        <p:nvSpPr>
          <p:cNvPr id="65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1324737"/>
            <a:ext cx="9101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b="1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Discount bands (Low, Medium, High)</a:t>
            </a:r>
            <a:r>
              <a:rPr lang="en-US" sz="1800" spc="-36" dirty="0">
                <a:solidFill>
                  <a:srgbClr val="07071B"/>
                </a:solidFill>
                <a:latin typeface="Hanken Grotesk" panose="00000700000000000000" pitchFamily="2" charset="0"/>
              </a:rPr>
              <a:t> directly impact profit margins and sales volume.</a:t>
            </a:r>
          </a:p>
        </p:txBody>
      </p:sp>
      <p:pic>
        <p:nvPicPr>
          <p:cNvPr id="6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781800" y="2628900"/>
            <a:ext cx="1371600" cy="1371600"/>
          </a:xfrm>
          <a:prstGeom prst="rect">
            <a:avLst/>
          </a:prstGeom>
        </p:spPr>
      </p:pic>
      <p:pic>
        <p:nvPicPr>
          <p:cNvPr id="65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4B39D21D-35E5-4E28-A881-3F03B1ED6BC3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056120" y="2903220"/>
            <a:ext cx="822960" cy="822960"/>
          </a:xfrm>
          <a:prstGeom prst="rect">
            <a:avLst/>
          </a:prstGeom>
        </p:spPr>
      </p:pic>
      <p:sp>
        <p:nvSpPr>
          <p:cNvPr id="65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3153537"/>
            <a:ext cx="9101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Tracking discounts, sale prices, and cost of goods sold enables precise profitability analysis.</a:t>
            </a:r>
          </a:p>
        </p:txBody>
      </p:sp>
      <p:pic>
        <p:nvPicPr>
          <p:cNvPr id="6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781800" y="4457700"/>
            <a:ext cx="1371600" cy="1371600"/>
          </a:xfrm>
          <a:prstGeom prst="rect">
            <a:avLst/>
          </a:prstGeom>
        </p:spPr>
      </p:pic>
      <p:pic>
        <p:nvPicPr>
          <p:cNvPr id="66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FDC36485-F7F0-4F88-8921-8A08B648F0C3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056120" y="4732020"/>
            <a:ext cx="822960" cy="822960"/>
          </a:xfrm>
          <a:prstGeom prst="rect">
            <a:avLst/>
          </a:prstGeom>
        </p:spPr>
      </p:pic>
      <p:sp>
        <p:nvSpPr>
          <p:cNvPr id="66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4821174"/>
            <a:ext cx="91011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Higher discounts can boost volume but risk eroding overall profitability if margins are not preserved.</a:t>
            </a:r>
          </a:p>
        </p:txBody>
      </p:sp>
      <p:pic>
        <p:nvPicPr>
          <p:cNvPr id="6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781800" y="6286500"/>
            <a:ext cx="1371600" cy="1371600"/>
          </a:xfrm>
          <a:prstGeom prst="rect">
            <a:avLst/>
          </a:prstGeom>
        </p:spPr>
      </p:pic>
      <p:pic>
        <p:nvPicPr>
          <p:cNvPr id="66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92043045-D6BD-4060-9C6E-1FD8A58C5C4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056120" y="6560820"/>
            <a:ext cx="822960" cy="822960"/>
          </a:xfrm>
          <a:prstGeom prst="rect">
            <a:avLst/>
          </a:prstGeom>
        </p:spPr>
      </p:pic>
      <p:sp>
        <p:nvSpPr>
          <p:cNvPr id="66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6649974"/>
            <a:ext cx="91011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Effective pricing strategies require balancing discount incentives with margin protection to optimize revenue.</a:t>
            </a:r>
          </a:p>
        </p:txBody>
      </p:sp>
      <p:pic>
        <p:nvPicPr>
          <p:cNvPr id="6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781800" y="8115300"/>
            <a:ext cx="1371600" cy="1371600"/>
          </a:xfrm>
          <a:prstGeom prst="rect">
            <a:avLst/>
          </a:prstGeom>
        </p:spPr>
      </p:pic>
      <p:pic>
        <p:nvPicPr>
          <p:cNvPr id="672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D1F51E59-4CDA-42AD-B42F-FD2A5B0FD4D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056120" y="8389620"/>
            <a:ext cx="822960" cy="822960"/>
          </a:xfrm>
          <a:prstGeom prst="rect">
            <a:avLst/>
          </a:prstGeom>
        </p:spPr>
      </p:pic>
      <p:sp>
        <p:nvSpPr>
          <p:cNvPr id="67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8478774"/>
            <a:ext cx="91011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07071B">
                    <a:alpha val="100000"/>
                  </a:srgbClr>
                </a:solidFill>
                <a:latin typeface="Hanken Grotesk" panose="00000700000000000000" pitchFamily="2" charset="0"/>
              </a:rPr>
              <a:t>Understanding the interplay between discount levels and profit margins is vital for sustaining business health.</a:t>
            </a:r>
          </a:p>
        </p:txBody>
      </p:sp>
      <p:sp>
        <p:nvSpPr>
          <p:cNvPr id="67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3429000"/>
            <a:ext cx="5214938" cy="2609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00" spc="-105" dirty="0">
                <a:solidFill>
                  <a:srgbClr val="07071B">
                    <a:alpha val="100000"/>
                  </a:srgbClr>
                </a:solidFill>
                <a:latin typeface="Hanken Grotesk SemiBold" panose="00000700000000000000" pitchFamily="2" charset="0"/>
              </a:rPr>
              <a:t>Maximizing Profitability Through Strategic Pricing and Discounts</a:t>
            </a:r>
          </a:p>
        </p:txBody>
      </p:sp>
      <p:sp>
        <p:nvSpPr>
          <p:cNvPr id="67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6134100"/>
            <a:ext cx="52149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800" spc="-36" dirty="0">
                <a:solidFill>
                  <a:srgbClr val="6C6C80">
                    <a:alpha val="100000"/>
                  </a:srgbClr>
                </a:solidFill>
                <a:latin typeface="Hanken Grotesk" panose="00000700000000000000" pitchFamily="2" charset="0"/>
              </a:rPr>
              <a:t>How discount levels influence margins and drive revenue balance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531</Words>
  <Application>Microsoft Office PowerPoint</Application>
  <PresentationFormat>Custom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Hanken Grotesk SemiBold</vt:lpstr>
      <vt:lpstr>Calibri Light</vt:lpstr>
      <vt:lpstr>Arial</vt:lpstr>
      <vt:lpstr>Hanken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 2.6.0.0, docId: 22700248, orderId: 9903180</dc:title>
  <dc:creator>Presentations.AI Exporter</dc:creator>
  <cp:lastModifiedBy>Durga Prasad Jaiswal</cp:lastModifiedBy>
  <cp:revision>1</cp:revision>
  <dcterms:created xsi:type="dcterms:W3CDTF">2025-10-11T02:25:28Z</dcterms:created>
  <dcterms:modified xsi:type="dcterms:W3CDTF">2025-10-11T02:41:17Z</dcterms:modified>
</cp:coreProperties>
</file>